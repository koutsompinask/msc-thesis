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D97706"/>
            </a:solidFill>
            <a:effectLst>
              <a:outerShdw sx="100000" sy="100000" kx="0" ky="0" algn="bl" blurRad="101600" rotWithShape="1" dist="25400" dir="8100000">
                <a:srgbClr val="000000">
                  <a:alpha val="10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7706"/>
              </a:solidFill>
              <a:effectLst>
                <a:outerShdw sx="100000" sy="100000" kx="0" ky="0" algn="bl" blurRad="101600" rotWithShape="1" dist="25400" dir="8100000">
                  <a:srgbClr val="000000">
                    <a:alpha val="10000"/>
                  </a:srgbClr>
                </a:outerShdw>
              </a:effectLst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>
                <a:outerShdw sx="100000" sy="100000" kx="0" ky="0" algn="bl" blurRad="101600" rotWithShape="1" dist="25400" dir="8100000">
                  <a:srgbClr val="000000">
                    <a:alpha val="10000"/>
                  </a:srgbClr>
                </a:outerShdw>
              </a:effectLst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>
                <a:outerShdw sx="100000" sy="100000" kx="0" ky="0" algn="bl" blurRad="101600" rotWithShape="1" dist="25400" dir="8100000">
                  <a:srgbClr val="000000">
                    <a:alpha val="10000"/>
                  </a:srgbClr>
                </a:outerShdw>
              </a:effectLst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XGBoost</c:v>
                  </c:pt>
                  <c:pt idx="1">
                    <c:v>LightGBM</c:v>
                  </c:pt>
                  <c:pt idx="2">
                    <c:v>CatBoost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0.896</c:v>
                </c:pt>
                <c:pt idx="1">
                  <c:v>0.918</c:v>
                </c:pt>
                <c:pt idx="2">
                  <c:v>0.91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3"/>
          <c:min val="0.8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 Features</c:v>
                </c:pt>
              </c:strCache>
            </c:strRef>
          </c:tx>
          <c:spPr>
            <a:solidFill>
              <a:srgbClr val="94A3B8"/>
            </a:solidFill>
            <a:effectLst>
              <a:outerShdw sx="100000" sy="100000" kx="0" ky="0" algn="bl" blurRad="101600" rotWithShape="1" dist="25400" dir="8100000">
                <a:srgbClr val="000000">
                  <a:alpha val="10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XGBoost</c:v>
                  </c:pt>
                  <c:pt idx="1">
                    <c:v>LightGBM</c:v>
                  </c:pt>
                  <c:pt idx="2">
                    <c:v>CatBoost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0.896</c:v>
                </c:pt>
                <c:pt idx="1">
                  <c:v>0.918</c:v>
                </c:pt>
                <c:pt idx="2">
                  <c:v>0.91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Reduced Features</c:v>
                </c:pt>
              </c:strCache>
            </c:strRef>
          </c:tx>
          <c:spPr>
            <a:solidFill>
              <a:srgbClr val="0891B2"/>
            </a:solidFill>
            <a:effectLst>
              <a:outerShdw sx="100000" sy="100000" kx="0" ky="0" algn="bl" blurRad="101600" rotWithShape="1" dist="25400" dir="8100000">
                <a:srgbClr val="000000">
                  <a:alpha val="10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XGBoost</c:v>
                  </c:pt>
                  <c:pt idx="1">
                    <c:v>LightGBM</c:v>
                  </c:pt>
                  <c:pt idx="2">
                    <c:v>CatBoost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0.905</c:v>
                </c:pt>
                <c:pt idx="1">
                  <c:v>0.919</c:v>
                </c:pt>
                <c:pt idx="2">
                  <c:v>0.914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3"/>
          <c:min val="0.8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1828800" cy="36576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182880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1828800" cy="36576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314700"/>
            <a:ext cx="36576" cy="1828800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" y="91440"/>
            <a:ext cx="9034272" cy="9144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731520"/>
            <a:ext cx="9034272" cy="9144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" y="1371600"/>
            <a:ext cx="9034272" cy="9144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" y="2011680"/>
            <a:ext cx="9034272" cy="9144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" y="2651760"/>
            <a:ext cx="9034272" cy="9144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" y="3291840"/>
            <a:ext cx="9034272" cy="9144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" y="3931920"/>
            <a:ext cx="9034272" cy="9144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" y="4572000"/>
            <a:ext cx="9034272" cy="9144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502920"/>
            <a:ext cx="169164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02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PRESENTATION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960120"/>
            <a:ext cx="6217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4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ANALYTICS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502920" y="31546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Fraud Detection in Online Financial Transactions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6217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404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Koutsompinas Konstantinos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Athanasios Argyriou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&amp; Kapodistrian University of Athens  |  Department of Economics  |  February 2026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1188720"/>
            <a:ext cx="1600200" cy="164592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371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223760" y="21031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IEEE-CIS dataset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0" y="3017520"/>
            <a:ext cx="160020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590K+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223760" y="3794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1828800" cy="36576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182880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1828800" cy="36576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314700"/>
            <a:ext cx="36576" cy="1828800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0350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3977640" cy="69494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98448"/>
            <a:ext cx="457200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9844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3441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&amp; Context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16642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fraud detection problem and why it's hard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48256"/>
            <a:ext cx="3977640" cy="69494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048256"/>
            <a:ext cx="457200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4825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20939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Model Choice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24140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landscape review and gradient boosting rationale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798064"/>
            <a:ext cx="3977640" cy="69494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798064"/>
            <a:ext cx="457200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79806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28437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31638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research questions guiding the study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547872"/>
            <a:ext cx="3977640" cy="69494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547872"/>
            <a:ext cx="457200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547872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3593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0120" y="3913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IEEE-CIS data, pipeline, feature engineering, data split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1298448"/>
            <a:ext cx="3977640" cy="69494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298448"/>
            <a:ext cx="457200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29844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94960" y="13441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394960" y="16642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configurations across three models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2048256"/>
            <a:ext cx="3977640" cy="69494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048256"/>
            <a:ext cx="457200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04825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94960" y="20939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Insights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394960" y="24140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Cross-experiment patterns and what they mean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2798064"/>
            <a:ext cx="3977640" cy="69494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2798064"/>
            <a:ext cx="457200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79806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394960" y="28437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394960" y="31638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future research directions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Fraud Detection Challenge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14400"/>
            <a:ext cx="53035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914400"/>
            <a:ext cx="50292" cy="88696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9692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" y="12984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represent only ~3.5% of all activity. Standard models learn to predict the majority class and miss fraud entirely.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" y="1865376"/>
            <a:ext cx="53035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" y="1865376"/>
            <a:ext cx="50292" cy="88696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Evolving Tactics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" y="22494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constantly adapt their methods to evade detection, making rule-based systems obsolete within months.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" y="2816352"/>
            <a:ext cx="53035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" y="2816352"/>
            <a:ext cx="50292" cy="88696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28712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Constraints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decisions must be made in milliseconds at scale — complex models must also be computationally practical.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" y="3767328"/>
            <a:ext cx="53035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" y="3767328"/>
            <a:ext cx="50292" cy="88696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22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vs. Accuracy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" y="41513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ensemble models achieve the best results, but financial regulators and risk teams demand explainable decisions.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914400"/>
            <a:ext cx="2633472" cy="1463040"/>
          </a:xfrm>
          <a:prstGeom prst="rect">
            <a:avLst/>
          </a:prstGeom>
          <a:solidFill>
            <a:srgbClr val="0A162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100584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6263640" y="1755648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in IEEE-CIS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2542032"/>
            <a:ext cx="1264067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63640" y="2587752"/>
            <a:ext cx="1264067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590K+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263640" y="3118104"/>
            <a:ext cx="1264067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633045" y="2542032"/>
            <a:ext cx="1264067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33045" y="2587752"/>
            <a:ext cx="1264067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434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633045" y="3118104"/>
            <a:ext cx="1264067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3657600"/>
            <a:ext cx="1264067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63640" y="3703320"/>
            <a:ext cx="1264067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263640" y="4233672"/>
            <a:ext cx="1264067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633045" y="3657600"/>
            <a:ext cx="1264067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33045" y="3703320"/>
            <a:ext cx="1264067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7633045" y="4233672"/>
            <a:ext cx="1264067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60120"/>
            <a:ext cx="400507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960120"/>
            <a:ext cx="400507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960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53896" y="96012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Discrimination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" y="1417320"/>
            <a:ext cx="3685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effectively do gradient boosting models (XGBoost, LightGBM, CatBoost) discriminate fraudulent from legitimate transactions under ROC-AUC evaluation?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54296" y="960120"/>
            <a:ext cx="400507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4296" y="960120"/>
            <a:ext cx="40050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960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0136" y="96012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Downsampling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37176" y="1417320"/>
            <a:ext cx="3685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majority-class downsampling (1:5 ratio) affect model performance compared to training on the original imbalanced data distribution?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" y="2916936"/>
            <a:ext cx="400507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" y="2916936"/>
            <a:ext cx="4005072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9169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53896" y="2916936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Reduction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" y="3374136"/>
            <a:ext cx="3685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reduced feature set, selected through cross-model feature importance agreement, preserve the discriminatory power of the full feature space?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54296" y="2916936"/>
            <a:ext cx="400507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54296" y="2916936"/>
            <a:ext cx="400507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29169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0136" y="2916936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Effects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37176" y="3374136"/>
            <a:ext cx="3685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altering the decision threshold change fraud detection behavior — specifically the recall–precision trade-off relevant to operational deployment?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Landscape: ML Approaches to Fraud Detection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14400"/>
            <a:ext cx="40050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914400"/>
            <a:ext cx="400507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91440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Supervised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29844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SVM, Decision Trees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1609344"/>
            <a:ext cx="109728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155448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fast, well-understood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" y="1901952"/>
            <a:ext cx="109728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1847088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capacity to model complex interactions; poor recall on severe imbalance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54296" y="914400"/>
            <a:ext cx="40050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914400"/>
            <a:ext cx="400507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91440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2312" y="129844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One-Class SVM, LOF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82312" y="1609344"/>
            <a:ext cx="109728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46904" y="155448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labeled fraud — useful when labels are scarce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82312" y="1901952"/>
            <a:ext cx="109728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6904" y="1847088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 rates; not optimized for known fraud patterns in labeled 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" y="2587752"/>
            <a:ext cx="40050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" y="2587752"/>
            <a:ext cx="400507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58775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" y="297180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Autoencoders, Transformers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" y="3282696"/>
            <a:ext cx="109728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3227832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on sequential/unstructured data; learns latent representations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" y="3575304"/>
            <a:ext cx="109728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352044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datasets, high compute, difficult to interpret for compliance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54296" y="2587752"/>
            <a:ext cx="40050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54296" y="2587752"/>
            <a:ext cx="40050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258775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Ensembles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82312" y="297180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CatBoost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82312" y="3282696"/>
            <a:ext cx="109728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3227832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on tabular data; handles missing values, imbalance, and scale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82312" y="3575304"/>
            <a:ext cx="109728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46904" y="352044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complexity requires SHAP or similar for interpretability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8056" y="4686300"/>
            <a:ext cx="8311896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2648" y="4686300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consensus: gradient boosting achieves best-in-class performance on structured, labeled fraud data — justifying this thesis's model selection.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IEEE-CIS Fraud Detection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60120"/>
            <a:ext cx="5120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960120"/>
            <a:ext cx="512064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960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IEEE-CIS Kaggle Competition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" y="15270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" y="18013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TransactionDT, TransactionAmt, ProductCD, card types, email domains, and 300+ Vesta-engineered features.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" y="22860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" y="25603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type, browser, OS, network information, and biometric proxy features linked to transactions.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9224" y="30449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" y="33192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isFraud = 1 for fraudulent, 0 for legitimate. Severe imbalance: ~3.5% positive rate.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" y="380390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IEEE-CIS?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" y="407822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real e-commerce complexity — not a toy dataset. Used in Kaggle competition where top solutions achieved ~96% ROC-AUC.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43016" y="960120"/>
            <a:ext cx="2487168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43016" y="1005840"/>
            <a:ext cx="2487168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590,540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43016" y="1442923"/>
            <a:ext cx="2487168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43016" y="1865376"/>
            <a:ext cx="2487168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43016" y="1911096"/>
            <a:ext cx="2487168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843016" y="2348179"/>
            <a:ext cx="2487168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43016" y="2770632"/>
            <a:ext cx="248716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43016" y="2816352"/>
            <a:ext cx="2487168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43016" y="3253435"/>
            <a:ext cx="2487168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(Positive)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43016" y="3675888"/>
            <a:ext cx="248716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43016" y="3721608"/>
            <a:ext cx="2487168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843016" y="4158691"/>
            <a:ext cx="2487168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 Ratio Tested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43016" y="4581144"/>
            <a:ext cx="248716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34456" y="46177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data split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simulate real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20824" y="1645920"/>
            <a:ext cx="109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8056" y="1143000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8056" y="1143000"/>
            <a:ext cx="157276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139903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99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" y="222199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7784" y="2679192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missingness, encode categorical variables, prepare temporal features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3703320" y="1645920"/>
            <a:ext cx="109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130552" y="1143000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30552" y="1143000"/>
            <a:ext cx="157276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0904" y="139903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60904" y="1399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21992" y="222199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40280" y="2679192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behavioral aggregates: mean, relative, avg, std, frequency features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385816" y="1645920"/>
            <a:ext cx="109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813048" y="1143000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13048" y="1143000"/>
            <a:ext cx="1572768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139903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1399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04488" y="222199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922776" y="2679192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XGBoost, LightGBM, CatBoost with time-aware cross-validation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7068312" y="1645920"/>
            <a:ext cx="109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95544" y="1143000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95544" y="1143000"/>
            <a:ext cx="157276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25896" y="139903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25896" y="1399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86984" y="222199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05272" y="2679192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ROC-AUC, PR-AUC, Precision, Recall, F1 across all configurations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7178040" y="1143000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78040" y="1143000"/>
            <a:ext cx="157276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08392" y="139903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08392" y="1399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69480" y="222199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Tests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287768" y="2679192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Downsampling, reduced features, and decision threshold tuning experiments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448056" y="4796028"/>
            <a:ext cx="8311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cross-validation was used throughout to prevent data leakage and simulate real-world deployment conditions.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Data Split &amp; Time-Series Validation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8056" y="841248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Chronological order (TransactionDT) — no shuffling at any stage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" y="1060704"/>
            <a:ext cx="598932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170432"/>
            <a:ext cx="431231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" y="1170432"/>
            <a:ext cx="41294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 —  72%  (chronological first)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60366" y="1170432"/>
            <a:ext cx="539039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87798" y="1170432"/>
            <a:ext cx="50246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99405" y="1170432"/>
            <a:ext cx="1137971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90845" y="1170432"/>
            <a:ext cx="10099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—  19%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" y="1819656"/>
            <a:ext cx="598932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8562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2017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94606" y="185623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~Oct 2017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51576" y="18562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8056" y="215798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Cross-Validation (within training set)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" y="2468880"/>
            <a:ext cx="862462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468880"/>
            <a:ext cx="7893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" y="2798064"/>
            <a:ext cx="862462" cy="256032"/>
          </a:xfrm>
          <a:prstGeom prst="rect">
            <a:avLst/>
          </a:prstGeom>
          <a:solidFill>
            <a:srgbClr val="1A3A5C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10518" y="2798064"/>
            <a:ext cx="862462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6238" y="2798064"/>
            <a:ext cx="7893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056" y="3127248"/>
            <a:ext cx="1724924" cy="256032"/>
          </a:xfrm>
          <a:prstGeom prst="rect">
            <a:avLst/>
          </a:prstGeom>
          <a:solidFill>
            <a:srgbClr val="1A3A5C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72980" y="3127248"/>
            <a:ext cx="862462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18700" y="3127248"/>
            <a:ext cx="7893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" y="3456432"/>
            <a:ext cx="2587386" cy="256032"/>
          </a:xfrm>
          <a:prstGeom prst="rect">
            <a:avLst/>
          </a:prstGeom>
          <a:solidFill>
            <a:srgbClr val="1A3A5C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5442" y="3456432"/>
            <a:ext cx="862462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81162" y="3456432"/>
            <a:ext cx="7893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056" y="3785616"/>
            <a:ext cx="3449848" cy="256032"/>
          </a:xfrm>
          <a:prstGeom prst="rect">
            <a:avLst/>
          </a:prstGeom>
          <a:solidFill>
            <a:srgbClr val="1A3A5C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97904" y="3785616"/>
            <a:ext cx="862462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43624" y="3785616"/>
            <a:ext cx="7893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38544" y="1170432"/>
            <a:ext cx="2121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638544" y="1170432"/>
            <a:ext cx="5029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9712" y="122529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39712" y="149961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information never used to train on past data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38544" y="2103120"/>
            <a:ext cx="2121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38544" y="2103120"/>
            <a:ext cx="50292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9712" y="21579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Deployment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39712" y="243230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validated on transactions it has never seen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38544" y="3035808"/>
            <a:ext cx="2121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38544" y="3035808"/>
            <a:ext cx="5029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39712" y="30906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Evaluation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39712" y="336499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provides stable performance estimates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48056" y="4796028"/>
            <a:ext cx="8311896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" y="4796028"/>
            <a:ext cx="8129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 is essential for fraud detection — random splitting would overestimate performance by leaking future fraud patterns into training.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Analysis: Key Patterns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14400"/>
            <a:ext cx="400507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914400"/>
            <a:ext cx="50292" cy="162763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" y="1051560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88136" y="1051560"/>
            <a:ext cx="3255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57784" y="1536192"/>
            <a:ext cx="38039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~3.5% of transactions are fraudulent. A naive majority-predictor achieves 96.5% accuracy — making recall-oriented metrics essential for meaningful evaluation.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914400"/>
            <a:ext cx="400507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54296" y="914400"/>
            <a:ext cx="50292" cy="162763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64024" y="105156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94376" y="1051560"/>
            <a:ext cx="3255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Fraud Signatures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64024" y="1536192"/>
            <a:ext cx="38039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rates vary significantly by hour of day and day of week. Time-series patterns reveal that fraudsters tend to operate at specific temporal windows.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" y="2706624"/>
            <a:ext cx="400507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" y="2706624"/>
            <a:ext cx="50292" cy="162763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" y="2843784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88136" y="2843784"/>
            <a:ext cx="3255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 Missing Values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57784" y="3328416"/>
            <a:ext cx="38039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are unevenly distributed across feature groups (identity table has most). Handling missingness is central to model performance, not just a preprocessing detail.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54296" y="2706624"/>
            <a:ext cx="400507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4296" y="2706624"/>
            <a:ext cx="50292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64024" y="2843784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94376" y="2843784"/>
            <a:ext cx="3255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&amp; Categorical Signals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764024" y="3328416"/>
            <a:ext cx="38039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amount, decimal patterns (3 decimal places = higher fraud risk), product category, and card/email domain features all show meaningful shifts between fraud and non-fraud.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8056" y="4453128"/>
            <a:ext cx="8311896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4453128"/>
            <a:ext cx="8129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TAKEAWAY: Fraud is not random noise — it leaves temporal, behavioral, and categorical signatures that machine learning can exploit.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Strategy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60120"/>
            <a:ext cx="400507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960120"/>
            <a:ext cx="400507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96012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Aggregates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" y="1572768"/>
            <a:ext cx="128016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transaction means (_mean)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03504" y="2075688"/>
            <a:ext cx="128016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96596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deviation from user baseline (_rel)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03504" y="2578608"/>
            <a:ext cx="128016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46888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frequency signals (_freq, _std, _avg)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654296" y="960120"/>
            <a:ext cx="400507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960120"/>
            <a:ext cx="40050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96012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9744" y="1572768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&amp; day of week context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809744" y="2075688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196596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Delta-time between transactions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809744" y="2578608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46888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Sequence-aware user behavior signals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48056" y="3218688"/>
            <a:ext cx="400507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" y="3218688"/>
            <a:ext cx="4005072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321868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Interactions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3504" y="3831336"/>
            <a:ext cx="128016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3721608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× card type features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03504" y="4334256"/>
            <a:ext cx="128016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24528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× product category signals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03504" y="4837176"/>
            <a:ext cx="128016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" y="4727448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Cross-feature transaction relationships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654296" y="3218688"/>
            <a:ext cx="400507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54296" y="3218688"/>
            <a:ext cx="400507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321868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809744" y="3831336"/>
            <a:ext cx="128016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1768" y="3721608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hidden transaction habits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4809744" y="4334256"/>
            <a:ext cx="128016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4224528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discrimination beyond raw fields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4809744" y="4837176"/>
            <a:ext cx="128016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01768" y="4727448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ranked top predictors across all 3 models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Feature Importance &amp; Model Explainability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60120"/>
            <a:ext cx="498348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960120"/>
            <a:ext cx="49834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960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by SHAP Importance (Cross-Model)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" y="1490472"/>
            <a:ext cx="4636008" cy="384048"/>
          </a:xfrm>
          <a:prstGeom prst="rect">
            <a:avLst/>
          </a:prstGeom>
          <a:solidFill>
            <a:srgbClr val="DDE8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1490472"/>
            <a:ext cx="4265127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490472"/>
            <a:ext cx="310896" cy="38404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49047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490472"/>
            <a:ext cx="38627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card1  (card identifier)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2639" y="14904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" y="1965960"/>
            <a:ext cx="4636008" cy="384048"/>
          </a:xfrm>
          <a:prstGeom prst="rect">
            <a:avLst/>
          </a:prstGeom>
          <a:solidFill>
            <a:srgbClr val="DDE8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" y="1965960"/>
            <a:ext cx="4033327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965960"/>
            <a:ext cx="310896" cy="38404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19659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1965960"/>
            <a:ext cx="36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TransactionAmt_mean  (behavioral)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0839" y="1965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" y="2441448"/>
            <a:ext cx="4636008" cy="384048"/>
          </a:xfrm>
          <a:prstGeom prst="rect">
            <a:avLst/>
          </a:prstGeom>
          <a:solidFill>
            <a:srgbClr val="DDE8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" y="2441448"/>
            <a:ext cx="3708806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2441448"/>
            <a:ext cx="310896" cy="384048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2441448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2441448"/>
            <a:ext cx="33064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TransactionAmt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76318" y="24414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" y="2916936"/>
            <a:ext cx="4636008" cy="384048"/>
          </a:xfrm>
          <a:prstGeom prst="rect">
            <a:avLst/>
          </a:prstGeom>
          <a:solidFill>
            <a:srgbClr val="DDE8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2916936"/>
            <a:ext cx="3430646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" y="2916936"/>
            <a:ext cx="310896" cy="384048"/>
          </a:xfrm>
          <a:prstGeom prst="rect">
            <a:avLst/>
          </a:prstGeom>
          <a:solidFill>
            <a:srgbClr val="1A3A5C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291693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2916936"/>
            <a:ext cx="30283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 (transaction count)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098158" y="29169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" y="3392424"/>
            <a:ext cx="4636008" cy="384048"/>
          </a:xfrm>
          <a:prstGeom prst="rect">
            <a:avLst/>
          </a:prstGeom>
          <a:solidFill>
            <a:srgbClr val="DDE8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3392424"/>
            <a:ext cx="3152485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" y="3392424"/>
            <a:ext cx="310896" cy="384048"/>
          </a:xfrm>
          <a:prstGeom prst="rect">
            <a:avLst/>
          </a:prstGeom>
          <a:solidFill>
            <a:srgbClr val="1A3A5C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3392424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" y="3392424"/>
            <a:ext cx="27501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(time delta)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19997" y="33924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" y="3867912"/>
            <a:ext cx="4636008" cy="384048"/>
          </a:xfrm>
          <a:prstGeom prst="rect">
            <a:avLst/>
          </a:prstGeom>
          <a:solidFill>
            <a:srgbClr val="DDE8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" y="3867912"/>
            <a:ext cx="2874325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" y="3867912"/>
            <a:ext cx="310896" cy="384048"/>
          </a:xfrm>
          <a:prstGeom prst="rect">
            <a:avLst/>
          </a:prstGeom>
          <a:solidFill>
            <a:srgbClr val="1A3A5C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38679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0120" y="3867912"/>
            <a:ext cx="24719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addr1  (billing address)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541837" y="38679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2648" y="4343400"/>
            <a:ext cx="4636008" cy="384048"/>
          </a:xfrm>
          <a:prstGeom prst="rect">
            <a:avLst/>
          </a:prstGeom>
          <a:solidFill>
            <a:srgbClr val="DDE8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" y="4343400"/>
            <a:ext cx="2549804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" y="4343400"/>
            <a:ext cx="310896" cy="38404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434340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0120" y="4343400"/>
            <a:ext cx="2147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card1_addr1  (interaction)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217316" y="43434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687568" y="960120"/>
            <a:ext cx="321868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687568" y="960120"/>
            <a:ext cx="3218688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15584" y="96012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Explainability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815584" y="1399032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ranks the features driving fraud detection across all transactions — showing which variables the model relies on most. Enables audit, compliance reporting, and feature selection.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5687568" y="2807208"/>
            <a:ext cx="321868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687568" y="2807208"/>
            <a:ext cx="321868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15584" y="280720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Explainability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815584" y="3246120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assigns a contribution score to each feature for every individual prediction — answering "why was this specific transaction flagged?" This enables analyst review and appeals processes.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448056" y="4777740"/>
            <a:ext cx="8311896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5216" y="4777740"/>
            <a:ext cx="8129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is already delivered in this thesis — both global rankings and per-prediction attribution scores were computed for all three models.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Configurations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6012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960120"/>
            <a:ext cx="50292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960120"/>
            <a:ext cx="45720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9601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6696" y="10149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Full Features, Imbalanced 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96696" y="13624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original data without any rebalancing. Establishes the performance ceiling for raw gradient boosting.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" y="196596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" y="1965960"/>
            <a:ext cx="50292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" y="1965960"/>
            <a:ext cx="45720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96596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96696" y="20208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Majority-Class Downsampling (1:5 Ratio)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96696" y="23682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legitimate transactions to 1:5 ratio. Tests whether controlled rebalancing helps models learn fraud patterns better.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" y="297180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" y="2971800"/>
            <a:ext cx="50292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" y="2971800"/>
            <a:ext cx="457200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297180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6696" y="30266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Feature Set (SHAP-Based Selection)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96696" y="33741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features based on cross-model SHAP importance agreement (top 30% per model, ≥2 models → 215 features). Tests competitive compact models.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" y="397764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" y="3977640"/>
            <a:ext cx="502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" y="3977640"/>
            <a:ext cx="45720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97764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6696" y="40325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 Tuning (0.1)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96696" y="43799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threshold from default 0.5 to 0.1. Demonstrates the operational precision–recall trade-off.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71616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960120"/>
            <a:ext cx="27432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72784" y="146304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7104" y="14264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72784" y="186537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47104" y="1828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72784" y="226771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7104" y="2231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071616" y="29260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71616" y="2926080"/>
            <a:ext cx="27432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63056" y="29260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72784" y="3483864"/>
            <a:ext cx="146304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3429000"/>
            <a:ext cx="2212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(primary)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72784" y="3749040"/>
            <a:ext cx="146304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3694176"/>
            <a:ext cx="2212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72784" y="4014216"/>
            <a:ext cx="146304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3959352"/>
            <a:ext cx="2212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72784" y="4279392"/>
            <a:ext cx="146304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4224528"/>
            <a:ext cx="2212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Baseline — Full Features, Imbalanced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41832"/>
            <a:ext cx="8311896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9418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achieves the strongest baseline ROC-AUC at 0.918, ahead of CatBoost (0.910) and XGBoost (0.896)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48056" y="1536192"/>
          <a:ext cx="484632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532120" y="1536192"/>
            <a:ext cx="32918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32120" y="1536192"/>
            <a:ext cx="32918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59552" y="15544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519672" y="1554480"/>
            <a:ext cx="393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58584" y="1554480"/>
            <a:ext cx="429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34072" y="1554480"/>
            <a:ext cx="338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818120" y="1554480"/>
            <a:ext cx="393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257032" y="1554480"/>
            <a:ext cx="393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32120" y="1920240"/>
            <a:ext cx="329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32120" y="1920240"/>
            <a:ext cx="54864" cy="52120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86984" y="1956816"/>
            <a:ext cx="8869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47104" y="1956816"/>
            <a:ext cx="365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986016" y="1956816"/>
            <a:ext cx="402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0.496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461504" y="1956816"/>
            <a:ext cx="310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0.384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845552" y="1956816"/>
            <a:ext cx="365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0.269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284464" y="1956816"/>
            <a:ext cx="365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0.671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532120" y="2441448"/>
            <a:ext cx="3291840" cy="521208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532120" y="2441448"/>
            <a:ext cx="54864" cy="52120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86984" y="2478024"/>
            <a:ext cx="8869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547104" y="2478024"/>
            <a:ext cx="365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0.918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986016" y="2478024"/>
            <a:ext cx="402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0.537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461504" y="2478024"/>
            <a:ext cx="310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0.506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845552" y="2478024"/>
            <a:ext cx="365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84464" y="2478024"/>
            <a:ext cx="365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0.456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532120" y="2962656"/>
            <a:ext cx="329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2962656"/>
            <a:ext cx="54864" cy="52120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86984" y="2999232"/>
            <a:ext cx="8869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547104" y="2999232"/>
            <a:ext cx="365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0.910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986016" y="2999232"/>
            <a:ext cx="402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461504" y="2999232"/>
            <a:ext cx="310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0.475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845552" y="2999232"/>
            <a:ext cx="365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0.490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8284464" y="2999232"/>
            <a:ext cx="365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0.461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532120" y="3575304"/>
            <a:ext cx="3291840" cy="1078992"/>
          </a:xfrm>
          <a:prstGeom prst="rect">
            <a:avLst/>
          </a:prstGeom>
          <a:solidFill>
            <a:srgbClr val="DBE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41848" y="3630168"/>
            <a:ext cx="3108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highest recall (0.671) — catching more fraud — but with much lower precision (0.269), generating more false alarms.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achieves the best overall balance: highest AUC, PR-AUC, and F1.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Majority-Class Downsampling (1:5)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41832"/>
            <a:ext cx="8311896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9418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 improves fraud sensitivity across all models without significantly collapsing ROC-AUC performance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" y="160020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" y="1600200"/>
            <a:ext cx="393192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6002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Imbalanced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2130552"/>
            <a:ext cx="3611880" cy="685800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" y="2130552"/>
            <a:ext cx="54864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1854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" y="24780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0.671  |  ROC-AUC: 0.896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" y="2935224"/>
            <a:ext cx="3611880" cy="685800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" y="2935224"/>
            <a:ext cx="54864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2990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" y="32826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0.456  |  ROC-AUC: 0.918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" y="3739896"/>
            <a:ext cx="3611880" cy="685800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" y="3739896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0.461  |  ROC-AUC: 0.910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25696" y="23317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425696" y="299923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0056" y="160020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0056" y="1600200"/>
            <a:ext cx="39319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11496" y="16002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1:5 Downsampled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84648" y="2130552"/>
            <a:ext cx="3611880" cy="685800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4648" y="2130552"/>
            <a:ext cx="54864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94376" y="21854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94376" y="2478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0.703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39128" y="2423160"/>
            <a:ext cx="82296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24231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+4.8%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71816" y="2478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0.908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184648" y="2935224"/>
            <a:ext cx="3611880" cy="685800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84648" y="2935224"/>
            <a:ext cx="54864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94376" y="2990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94376" y="3282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0.626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739128" y="3227832"/>
            <a:ext cx="82296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39128" y="32278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+37.3%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71816" y="3282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0.917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84648" y="3739896"/>
            <a:ext cx="3611880" cy="685800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84648" y="3739896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94376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94376" y="4087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0.757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739128" y="4032504"/>
            <a:ext cx="82296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39128" y="4032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+64.2%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71816" y="4087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0.916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48056" y="4777740"/>
            <a:ext cx="8311896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5216" y="4777740"/>
            <a:ext cx="8129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reading: controlled rebalancing substantially increases fraud capture with only marginal ROC-AUC cost.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Feature Set Reduction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41832"/>
            <a:ext cx="8311896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9418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models remain highly competitive — LightGBM slightly improves to 0.919 ROC-AUC with reduced features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48056" y="1572768"/>
          <a:ext cx="4937760" cy="3035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596128" y="1572768"/>
            <a:ext cx="321868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96128" y="1572768"/>
            <a:ext cx="50292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15584" y="1627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Maintained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815584" y="19019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retain near-identical ROC-AUC after compression. LightGBM marginally improves to 0.919.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96128" y="2450592"/>
            <a:ext cx="321868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96128" y="2450592"/>
            <a:ext cx="50292" cy="78638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15584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Engineered Features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815584" y="27797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aggregates (_mean, _rel, _avg, _std, _freq) consistently rank as the strongest predictors.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96128" y="3328416"/>
            <a:ext cx="321868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96128" y="3328416"/>
            <a:ext cx="50292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15584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SHAP-Driven Selection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815584" y="36576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30% importance per model, kept when ≥2 models agree — reduces feature set from 434 to 215.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96128" y="4206240"/>
            <a:ext cx="321868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96128" y="4206240"/>
            <a:ext cx="50292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15584" y="4261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Advantage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815584" y="453542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 = faster inference, simpler pipelines, lower maintenance cost in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Decision Threshold Tuning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41832"/>
            <a:ext cx="8311896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9418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threshold to 0.1 dramatically increases fraud capture — at the cost of precision. This is a business decision.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" y="1581912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" y="1581912"/>
            <a:ext cx="265176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58191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" y="2093976"/>
            <a:ext cx="2377440" cy="804672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" y="23865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   0.671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2587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0.269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8056" y="32278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→ 0.1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" y="3502152"/>
            <a:ext cx="2377440" cy="80467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3538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" y="3794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   0.922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" y="3995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0.085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28416" y="1581912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28416" y="1581912"/>
            <a:ext cx="265176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158191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65576" y="2093976"/>
            <a:ext cx="2377440" cy="804672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9584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9584" y="23865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   0.456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9584" y="2587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0.588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28416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328416" y="32278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→ 0.1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65576" y="3502152"/>
            <a:ext cx="2377440" cy="80467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9584" y="3538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9584" y="3794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   0.895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9584" y="3995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0.110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08776" y="1581912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08776" y="1581912"/>
            <a:ext cx="265176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0216" y="158191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45936" y="2093976"/>
            <a:ext cx="2377440" cy="804672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9944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9944" y="23865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   0.461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9944" y="2587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0.490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08776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208776" y="32278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→ 0.1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45936" y="3502152"/>
            <a:ext cx="2377440" cy="80467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9944" y="3538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9944" y="3794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   0.868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9944" y="3995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0.108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48056" y="4777740"/>
            <a:ext cx="8311896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" y="4777740"/>
            <a:ext cx="8129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should calibrate thresholds against their own fraud-loss tolerance and analyst review capacity.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1828800" cy="36576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182880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1828800" cy="36576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314700"/>
            <a:ext cx="36576" cy="1828800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SCORECARD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Across All Configurations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164592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182880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(Imbalanced)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325880"/>
            <a:ext cx="182880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(Downsampled)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201168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325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(Reduced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1874520"/>
            <a:ext cx="164592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1874520"/>
            <a:ext cx="54864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18745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60320" y="1874520"/>
            <a:ext cx="182880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1874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0.918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389120" y="1874520"/>
            <a:ext cx="182880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1874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0.917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583680" y="1874520"/>
            <a:ext cx="201168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874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0.919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14400" y="2606040"/>
            <a:ext cx="164592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260604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2606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560320" y="2606040"/>
            <a:ext cx="182880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0.910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4389120" y="2606040"/>
            <a:ext cx="182880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583680" y="2606040"/>
            <a:ext cx="201168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14400" y="3337560"/>
            <a:ext cx="164592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3337560"/>
            <a:ext cx="54864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33375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560320" y="3337560"/>
            <a:ext cx="182880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4389120" y="3337560"/>
            <a:ext cx="182880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0.908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6583680" y="3337560"/>
            <a:ext cx="201168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337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0.905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1560" y="4233672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provides the most stable and dominant discriminatory performance across all configurations. Notably, feature reduction (Config 3) slightly improves LightGBM to 0.919.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Cross-Experiment Synthesis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6012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960120"/>
            <a:ext cx="2633472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96012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Stayed Consistent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" y="1536192"/>
            <a:ext cx="91440" cy="9144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4630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was the most reliable model across all four experiments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" y="2295144"/>
            <a:ext cx="91440" cy="9144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219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behavioral features repeatedly appeared as the strongest predictors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" y="3054096"/>
            <a:ext cx="91440" cy="9144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809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remained stable even when the experimental setup changed significantly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" y="3813048"/>
            <a:ext cx="91440" cy="9144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398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models proved robust to different data conditions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36976" y="96012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36976" y="960120"/>
            <a:ext cx="2633472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96012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Improved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01568" y="1536192"/>
            <a:ext cx="9144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4630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 increased minority-class learning → recall improved for all models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01568" y="2295144"/>
            <a:ext cx="9144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2219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features preserved strong discrimination with lower complexity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01568" y="3054096"/>
            <a:ext cx="9144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9809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reduction sharply increased fraud capture (recall ↑ to 0.9+)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01568" y="3813048"/>
            <a:ext cx="9144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7398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reduction led to marginal AUC improvements in LightGBM and CatBoost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25896" y="96012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25896" y="960120"/>
            <a:ext cx="263347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5624" y="96012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90488" y="1536192"/>
            <a:ext cx="914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4630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is an operational optimization problem, not just a modeling task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0488" y="2295144"/>
            <a:ext cx="914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22219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choice, sampling strategy, and threshold must be tuned together holistically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90488" y="3054096"/>
            <a:ext cx="914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9809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metric tells the complete deployment story — context is everything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90488" y="3813048"/>
            <a:ext cx="914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7398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compact, well-calibrated model can outperform a complex one at lower cost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8056" y="4732020"/>
            <a:ext cx="8311896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" y="4732020"/>
            <a:ext cx="8129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fraud detection depends not on the model alone, but on the full decision pipeline: features, balance, and threshold.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Research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22208" y="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960120"/>
            <a:ext cx="5074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960120"/>
            <a:ext cx="507492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960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" y="1563624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88136" y="1527048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models are highly effective for fraud detection on the IEEE-CIS dataset, achieving strong discrimination without deep learning complexity.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12648" y="253288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88136" y="2496312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was the most dependable model overall, with ROC-AUC ≈ 0.918–0.919 across configurations — making it the recommended baseline choice.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12648" y="3502152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8136" y="3465576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 engineering materially improved model insight and performance. Engineered features consistently ranked among top predictors via SHAP analysis.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12648" y="447141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88136" y="443484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was implemented for all models, delivering both global feature rankings and per-prediction local attribution — bridging accuracy and interpretability.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779008" y="960120"/>
            <a:ext cx="3017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79008" y="960120"/>
            <a:ext cx="301752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960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16168" y="150876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6168" y="1508760"/>
            <a:ext cx="5029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56362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Imbalance Methods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35040" y="185623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learning, focal losses, SMOTE variants on harder datasets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16168" y="233172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16168" y="2331720"/>
            <a:ext cx="50292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238658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SHAP Deployment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35040" y="267919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SHAP scoring in live inference pipelines for regulatory compliance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16168" y="315468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16168" y="3154680"/>
            <a:ext cx="50292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32095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&amp; Hybrid Systems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35040" y="350215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rule-based and ML approaches for broader fraud coverage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16168" y="397764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16168" y="3977640"/>
            <a:ext cx="5029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403250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Monitoring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035040" y="432511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monitoring of model performance as fraud tactics evolve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1828800" cy="36576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182880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1828800" cy="36576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314700"/>
            <a:ext cx="36576" cy="1828800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315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5943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175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Konstantinos Koutsompinas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Athanasios Argyriou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&amp; Kapodistrian University of Athens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731520"/>
            <a:ext cx="1783080" cy="347472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8778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40880" y="11430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40880" y="1810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Features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2359152"/>
            <a:ext cx="1325880" cy="0"/>
          </a:xfrm>
          <a:prstGeom prst="line">
            <a:avLst/>
          </a:prstGeom>
          <a:noFill/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468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(Thr. 0.1)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0" y="285292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40880" y="3429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7960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in Business Administration, Analytics &amp; IS  |  February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Fraud Analytics</dc:title>
  <dc:subject>PptxGenJS Presentation</dc:subject>
  <dc:creator>Koutsompinas Konstantinos</dc:creator>
  <cp:lastModifiedBy>Koutsompinas Konstantinos</cp:lastModifiedBy>
  <cp:revision>1</cp:revision>
  <dcterms:created xsi:type="dcterms:W3CDTF">2026-04-16T17:23:53Z</dcterms:created>
  <dcterms:modified xsi:type="dcterms:W3CDTF">2026-04-16T17:23:53Z</dcterms:modified>
</cp:coreProperties>
</file>