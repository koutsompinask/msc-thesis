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879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thesis: Machine_Learning_for_Fraud_Detection_in_Online_Financial_Transactions_1775027051398.docx
- Title and scope adapted from thesis abstract, introduction, and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thesis: Machine_Learning_for_Fraud_Detection_in_Online_Financial_Transactions_1775027051398.docx
- Derived from Introduction and Abstract.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thesis: Machine_Learning_for_Fraud_Detection_in_Online_Financial_Transactions_1775027051398.docx
- Derived from Abstract, Methodology, and Data chapters.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thesis: Machine_Learning_for_Fraud_Detection_in_Online_Financial_Transactions_1775027051398.docx
- Derived from Methodology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thesis: Machine_Learning_for_Fraud_Detection_in_Online_Financial_Transactions_1775027051398.docx
- Derived from Data chapter and EDA subsections.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thesis: Machine_Learning_for_Fraud_Detection_in_Online_Financial_Transactions_1775027051398.docx
- Derived from Feature Engineering and Results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thesis: Machine_Learning_for_Fraud_Detection_in_Online_Financial_Transactions_1775027051398.docx
- Derived from Introduction and Results chapters.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thesis: Machine_Learning_for_Fraud_Detection_in_Online_Financial_Transactions_1775027051398.docx
- Metrics taken from Table 2 (full features).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thesis: Machine_Learning_for_Fraud_Detection_in_Online_Financial_Transactions_1775027051398.docx
- Metrics taken from Table 3 (downsampled data).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thesis: Machine_Learning_for_Fraud_Detection_in_Online_Financial_Transactions_1775027051398.docx
- Metrics taken from Table 5 and feature-importance Table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thesis: Machine_Learning_for_Fraud_Detection_in_Online_Financial_Transactions_1775027051398.docx
- Metrics taken from Table 6 (threshold = 0.1).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thesis: Machine_Learning_for_Fraud_Detection_in_Online_Financial_Transactions_1775027051398.docx
- Synthesis derived from Tables 2, 3, 5, 6, and 7 plus conclusion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thesis: Machine_Learning_for_Fraud_Detection_in_Online_Financial_Transactions_1775027051398.docx
- Derived from Conclusions – Future Research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 thesis: Machine_Learning_for_Fraud_Detection_in_Online_Financial_Transactions_1775027051398.docx
- Closing slide based on thesis cover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846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Machine Learning for Fraud Detection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Master thesis presentation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92824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4F0"/>
                </a:solidFill>
              </a:rPr>
              <a:t>Kostas Koutsompinas</a:t>
            </a:r>
            <a:endParaRPr lang="en-US" sz="8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2588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Fraud Detection with Gradient Boosting Models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199339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</a:rPr>
              <a:t>A comparative thesis study on IEEE-CIS transactions, class imbalance, feature engineering, and threshold tuning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79" y="2761487"/>
            <a:ext cx="6616338" cy="3031889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990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</a:rPr>
              <a:t>Presentation focus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3273551"/>
            <a:ext cx="5982789" cy="231735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236220" indent="-236220"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framing and research </a:t>
            </a:r>
            <a:r>
              <a:rPr lang="en-US" sz="1550" dirty="0" smtClean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</a:t>
            </a:r>
          </a:p>
          <a:p>
            <a:pPr marL="236220" indent="-236220">
              <a:buSzPct val="100000"/>
              <a:buChar char="•"/>
            </a:pPr>
            <a:endParaRPr lang="en-US" sz="1550" dirty="0"/>
          </a:p>
          <a:p>
            <a:pPr marL="236220" indent="-236220"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Dataset, methodology, and feature engineering </a:t>
            </a:r>
            <a:r>
              <a:rPr lang="en-US" sz="1550" dirty="0" smtClean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</a:p>
          <a:p>
            <a:pPr marL="236220" indent="-236220">
              <a:buSzPct val="100000"/>
              <a:buChar char="•"/>
            </a:pPr>
            <a:endParaRPr lang="en-US" sz="1550" dirty="0"/>
          </a:p>
          <a:p>
            <a:pPr marL="236220" indent="-236220"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Comparative results across XGBoost, LightGBM, and </a:t>
            </a:r>
            <a:r>
              <a:rPr lang="en-US" sz="1550" dirty="0" err="1" smtClean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CatBoost</a:t>
            </a:r>
            <a:endParaRPr lang="en-US" sz="1550" dirty="0" smtClean="0">
              <a:solidFill>
                <a:srgbClr val="1A202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236220" indent="-236220">
              <a:buSzPct val="100000"/>
              <a:buChar char="•"/>
            </a:pPr>
            <a:endParaRPr lang="en-US" sz="1550" dirty="0"/>
          </a:p>
          <a:p>
            <a:pPr marL="236220" indent="-236220"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lessons for fraud detection deployment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256416" y="1536192"/>
            <a:ext cx="4082143" cy="4526280"/>
          </a:xfrm>
          <a:prstGeom prst="roundRect">
            <a:avLst>
              <a:gd name="adj" fmla="val 121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7647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6C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Insert cover visual / hero infographic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20840" y="37078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A5568"/>
                </a:solidFill>
              </a:rPr>
              <a:t>Suggested: NotebookLM title visual or a fraud analytics graphic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71600"/>
            <a:ext cx="50749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053328" y="1353319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47365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</a:rPr>
              <a:t>Why this problem matters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26480" y="144998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</a:rPr>
              <a:t>Research goal and questions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1540" y="1703397"/>
            <a:ext cx="4526280" cy="2651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246888" indent="-246888">
              <a:buSzPct val="100000"/>
              <a:buChar char="•"/>
            </a:pPr>
            <a:r>
              <a:rPr lang="en-US" sz="162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payment fraud is rare, fast-changing, and costly to detect late</a:t>
            </a:r>
            <a:r>
              <a:rPr lang="en-US" sz="1620" dirty="0" smtClean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>
              <a:buSzPct val="100000"/>
            </a:pPr>
            <a:endParaRPr lang="en-US" sz="1620" dirty="0"/>
          </a:p>
          <a:p>
            <a:pPr marL="246888" indent="-246888">
              <a:buSzPct val="100000"/>
              <a:buChar char="•"/>
            </a:pPr>
            <a:r>
              <a:rPr lang="en-US" sz="162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Severe class imbalance makes accuracy misleading and operational evaluation harder</a:t>
            </a:r>
            <a:r>
              <a:rPr lang="en-US" sz="1620" dirty="0" smtClean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>
              <a:buSzPct val="100000"/>
            </a:pPr>
            <a:endParaRPr lang="en-US" sz="1620" dirty="0"/>
          </a:p>
          <a:p>
            <a:pPr marL="246888" indent="-246888">
              <a:buSzPct val="100000"/>
              <a:buChar char="•"/>
            </a:pPr>
            <a:r>
              <a:rPr lang="en-US" sz="162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Institutions need models that capture fraud without overwhelming review teams with false alarms.</a:t>
            </a:r>
            <a:endParaRPr lang="en-US" sz="1620" dirty="0"/>
          </a:p>
        </p:txBody>
      </p:sp>
      <p:sp>
        <p:nvSpPr>
          <p:cNvPr id="7" name="Text 5"/>
          <p:cNvSpPr/>
          <p:nvPr/>
        </p:nvSpPr>
        <p:spPr>
          <a:xfrm>
            <a:off x="6291072" y="1711245"/>
            <a:ext cx="4937760" cy="3291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239268" indent="-239268">
              <a:buSzPct val="100000"/>
              <a:buChar char="•"/>
            </a:pPr>
            <a:r>
              <a:rPr lang="en-US" sz="157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and evaluate a supervised fraud detection pipeline on the IEEE-CIS dataset</a:t>
            </a:r>
            <a:r>
              <a:rPr lang="en-US" sz="1570" dirty="0" smtClean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239268" indent="-239268">
              <a:buSzPct val="100000"/>
              <a:buChar char="•"/>
            </a:pPr>
            <a:endParaRPr lang="en-US" sz="1570" dirty="0"/>
          </a:p>
          <a:p>
            <a:pPr marL="239268" indent="-239268">
              <a:buSzPct val="100000"/>
              <a:buChar char="•"/>
            </a:pPr>
            <a:r>
              <a:rPr lang="en-US" sz="157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XGBoost, LightGBM, and CatBoost under multiple experimental settings</a:t>
            </a:r>
            <a:r>
              <a:rPr lang="en-US" sz="1570" dirty="0" smtClean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239268" indent="-239268">
              <a:buSzPct val="100000"/>
              <a:buChar char="•"/>
            </a:pPr>
            <a:endParaRPr lang="en-US" sz="1570" dirty="0"/>
          </a:p>
          <a:p>
            <a:pPr marL="239268" indent="-239268">
              <a:buSzPct val="100000"/>
              <a:buChar char="•"/>
            </a:pPr>
            <a:r>
              <a:rPr lang="en-US" sz="157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downsampling, feature reduction, and decision-threshold tuning</a:t>
            </a:r>
            <a:r>
              <a:rPr lang="en-US" sz="1570" dirty="0" smtClean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239268" indent="-239268">
              <a:buSzPct val="100000"/>
              <a:buChar char="•"/>
            </a:pPr>
            <a:endParaRPr lang="en-US" sz="1570" dirty="0"/>
          </a:p>
          <a:p>
            <a:pPr marL="239268" indent="-239268">
              <a:buSzPct val="100000"/>
              <a:buChar char="•"/>
            </a:pPr>
            <a:r>
              <a:rPr lang="en-US" sz="157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the contribution of engineered behavioral and aggregate features.</a:t>
            </a:r>
            <a:endParaRPr lang="en-US" sz="1570" dirty="0"/>
          </a:p>
        </p:txBody>
      </p:sp>
      <p:sp>
        <p:nvSpPr>
          <p:cNvPr id="8" name="Shape 6"/>
          <p:cNvSpPr/>
          <p:nvPr/>
        </p:nvSpPr>
        <p:spPr>
          <a:xfrm>
            <a:off x="6309360" y="5084064"/>
            <a:ext cx="4754880" cy="73152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529437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02C"/>
                </a:solidFill>
              </a:rPr>
              <a:t>Primary evaluation lens: ROC-AUC, complemented by PR-AUC, precision, recall, and F1-score.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353312"/>
            <a:ext cx="4663440" cy="498348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486400" y="1353312"/>
            <a:ext cx="601675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0" y="3840480"/>
            <a:ext cx="6016752" cy="2468880"/>
          </a:xfrm>
          <a:prstGeom prst="roundRect">
            <a:avLst>
              <a:gd name="adj" fmla="val 222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0" y="406908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6C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Insert dataset overview infographic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06440" y="4983480"/>
            <a:ext cx="5376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A5568"/>
                </a:solidFill>
              </a:rPr>
              <a:t>Suggested: train/test split, data sources, and table schema visual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96112" y="11704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</a:rPr>
              <a:t>Dataset and domain context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572768"/>
            <a:ext cx="402336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243840" indent="-243840"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IEEE-CIS Fraud Detection dataset from Kaggle.
</a:t>
            </a:r>
            <a:endParaRPr lang="en-US" sz="1600" dirty="0"/>
          </a:p>
          <a:p>
            <a:pPr marL="243840" indent="-243840"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and identity tables provide behavioral, device, and card-related attributes.
</a:t>
            </a:r>
            <a:endParaRPr lang="en-US" sz="1600" dirty="0"/>
          </a:p>
          <a:p>
            <a:pPr marL="243840" indent="-243840"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is binary: fraudulent vs. legitimate transaction.
</a:t>
            </a:r>
            <a:endParaRPr lang="en-US" sz="1600" dirty="0"/>
          </a:p>
          <a:p>
            <a:pPr marL="243840" indent="-243840"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dimensionality and missingness make preprocessing and engineering central to performance.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4754880"/>
            <a:ext cx="4069080" cy="1051560"/>
          </a:xfrm>
          <a:prstGeom prst="roundRect">
            <a:avLst>
              <a:gd name="adj" fmla="val 3478"/>
            </a:avLst>
          </a:prstGeom>
          <a:solidFill>
            <a:srgbClr val="FFF7E6"/>
          </a:solidFill>
          <a:ln w="12700">
            <a:solidFill>
              <a:srgbClr val="F2D2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9651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02C"/>
                </a:solidFill>
              </a:rPr>
              <a:t>Why IEEE-CIS is useful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202C"/>
                </a:solidFill>
              </a:rPr>
              <a:t>It reflects realistic e-commerce fraud complexity rather than a simplified toy dataset.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42432" y="15910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</a:rPr>
              <a:t>Data design choices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42432" y="1920240"/>
            <a:ext cx="530352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236220" indent="-236220"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Chronological splitting to mimic real deployment.
</a:t>
            </a:r>
            <a:endParaRPr lang="en-US" sz="1550" dirty="0"/>
          </a:p>
          <a:p>
            <a:pPr marL="236220" indent="-236220"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Time-series cross-validation for robust hyperparameter tuning.
</a:t>
            </a:r>
            <a:endParaRPr lang="en-US" sz="1550" dirty="0"/>
          </a:p>
          <a:p>
            <a:pPr marL="236220" indent="-236220"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on feature behaviors, not only raw variables.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417320"/>
            <a:ext cx="109728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96112" y="11704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</a:rPr>
              <a:t>Methodology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1737360" cy="2560320"/>
          </a:xfrm>
          <a:prstGeom prst="roundRect">
            <a:avLst>
              <a:gd name="adj" fmla="val 3158"/>
            </a:avLst>
          </a:prstGeom>
          <a:solidFill>
            <a:srgbClr val="EAF2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011680"/>
            <a:ext cx="548640" cy="54864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213969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8408" y="26974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47"/>
                </a:solidFill>
              </a:rPr>
              <a:t>1. Preprocessing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3063240"/>
            <a:ext cx="1481328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</a:rPr>
              <a:t>Handle missingness, encode categorical variables, and prepare temporal features.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0" y="28803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6CB0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063240" y="1828800"/>
            <a:ext cx="1737360" cy="2560320"/>
          </a:xfrm>
          <a:prstGeom prst="roundRect">
            <a:avLst>
              <a:gd name="adj" fmla="val 3158"/>
            </a:avLst>
          </a:prstGeom>
          <a:solidFill>
            <a:srgbClr val="F7FAFC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2011680"/>
            <a:ext cx="548640" cy="54864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13969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72968" y="26974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47"/>
                </a:solidFill>
              </a:rPr>
              <a:t>2. Feature engineering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82112" y="3063240"/>
            <a:ext cx="1481328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</a:rPr>
              <a:t>Build behavioral aggregates such as mean, relative, average, standard deviation, and frequency features.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28803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6CB0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257800" y="1828800"/>
            <a:ext cx="1737360" cy="2560320"/>
          </a:xfrm>
          <a:prstGeom prst="roundRect">
            <a:avLst>
              <a:gd name="adj" fmla="val 3158"/>
            </a:avLst>
          </a:prstGeom>
          <a:solidFill>
            <a:srgbClr val="EAF2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011680"/>
            <a:ext cx="548640" cy="54864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213969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67528" y="26974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47"/>
                </a:solidFill>
              </a:rPr>
              <a:t>3. Model training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76672" y="3063240"/>
            <a:ext cx="1481328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</a:rPr>
              <a:t>Train XGBoost, LightGBM, and CatBoost under a time-aware experimental protocol.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32320" y="28803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6CB0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452360" y="1828800"/>
            <a:ext cx="1737360" cy="2560320"/>
          </a:xfrm>
          <a:prstGeom prst="roundRect">
            <a:avLst>
              <a:gd name="adj" fmla="val 3158"/>
            </a:avLst>
          </a:prstGeom>
          <a:solidFill>
            <a:srgbClr val="F7FAFC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2011680"/>
            <a:ext cx="548640" cy="54864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213969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62088" y="26974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47"/>
                </a:solidFill>
              </a:rPr>
              <a:t>4. Evaluation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71232" y="3063240"/>
            <a:ext cx="1481328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</a:rPr>
              <a:t>Compare ROC-AUC, PR-AUC, precision, recall, and F1 across configurations.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26880" y="28803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6CB0"/>
                </a:solidFill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646920" y="1828800"/>
            <a:ext cx="1737360" cy="2560320"/>
          </a:xfrm>
          <a:prstGeom prst="roundRect">
            <a:avLst>
              <a:gd name="adj" fmla="val 3158"/>
            </a:avLst>
          </a:prstGeom>
          <a:solidFill>
            <a:srgbClr val="EAF2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41280" y="2011680"/>
            <a:ext cx="548640" cy="54864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0" y="213969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756648" y="26974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47"/>
                </a:solidFill>
              </a:rPr>
              <a:t>5. Sensitivity tests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65792" y="3063240"/>
            <a:ext cx="1481328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</a:rPr>
              <a:t>Run downsampling, reduced-feature, and threshold-tuning experiments.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68680" y="5577840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</a:rPr>
              <a:t>This slide is intentionally process-oriented so you can narrate the pipeline before showing results.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417320"/>
            <a:ext cx="475488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623560" y="1417320"/>
            <a:ext cx="5833872" cy="4709160"/>
          </a:xfrm>
          <a:prstGeom prst="roundRect">
            <a:avLst>
              <a:gd name="adj" fmla="val 116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0" y="1645920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6C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Insert EDA collage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0" y="3680460"/>
            <a:ext cx="5193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A5568"/>
                </a:solidFill>
              </a:rPr>
              <a:t>Suggested: target imbalance, missing values, fraud by hour/day, and amount distribution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96112" y="11704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</a:rPr>
              <a:t>Exploratory data analysis: what matters most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1645920"/>
            <a:ext cx="4251960" cy="3063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240792" indent="-240792">
              <a:buSzPct val="100000"/>
              <a:buChar char="•"/>
            </a:pPr>
            <a:r>
              <a:rPr lang="en-US" sz="158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target is extremely imbalanced, confirming that recall-oriented evaluation is necessary.
</a:t>
            </a:r>
            <a:endParaRPr lang="en-US" sz="1580" dirty="0"/>
          </a:p>
          <a:p>
            <a:pPr marL="240792" indent="-240792">
              <a:buSzPct val="100000"/>
              <a:buChar char="•"/>
            </a:pPr>
            <a:r>
              <a:rPr lang="en-US" sz="158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values are widespread and unevenly distributed across feature groups.
</a:t>
            </a:r>
            <a:endParaRPr lang="en-US" sz="1580" dirty="0"/>
          </a:p>
          <a:p>
            <a:pPr marL="240792" indent="-240792">
              <a:buSzPct val="100000"/>
              <a:buChar char="•"/>
            </a:pPr>
            <a:r>
              <a:rPr lang="en-US" sz="158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rates vary across time-related patterns such as hour of day and daily behavior.
</a:t>
            </a:r>
            <a:endParaRPr lang="en-US" sz="1580" dirty="0"/>
          </a:p>
          <a:p>
            <a:pPr marL="240792" indent="-240792">
              <a:buSzPct val="100000"/>
              <a:buChar char="•"/>
            </a:pPr>
            <a:r>
              <a:rPr lang="en-US" sz="158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amount and several categorical attributes show meaningful shifts between fraud and non-fraud cases.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896112" y="4956048"/>
            <a:ext cx="4160520" cy="777240"/>
          </a:xfrm>
          <a:prstGeom prst="roundRect">
            <a:avLst>
              <a:gd name="adj" fmla="val 4706"/>
            </a:avLst>
          </a:prstGeom>
          <a:solidFill>
            <a:srgbClr val="E9F7EF"/>
          </a:solidFill>
          <a:ln w="12700">
            <a:solidFill>
              <a:srgbClr val="A9D8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521208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A202C"/>
                </a:solidFill>
              </a:rPr>
              <a:t>EDA takeaway: fraud is not random noise; it leaves temporal, behavioral, and categorical signatures.</a:t>
            </a:r>
            <a:endParaRPr lang="en-US" sz="13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417320"/>
            <a:ext cx="109728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96112" y="11704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</a:rPr>
              <a:t>Feature engineering strategy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2148840" cy="3520440"/>
          </a:xfrm>
          <a:prstGeom prst="roundRect">
            <a:avLst>
              <a:gd name="adj" fmla="val 2128"/>
            </a:avLst>
          </a:prstGeom>
          <a:solidFill>
            <a:srgbClr val="EAF2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47"/>
                </a:solidFill>
              </a:rPr>
              <a:t>Behavioral aggregates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0704" y="2560320"/>
            <a:ext cx="1828800" cy="2423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92024" indent="-192024">
              <a:buSzPct val="100000"/>
              <a:buChar char="•"/>
            </a:pPr>
            <a:r>
              <a:rPr lang="en-US" sz="126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User-level means and averages
</a:t>
            </a:r>
            <a:endParaRPr lang="en-US" sz="1260" dirty="0"/>
          </a:p>
          <a:p>
            <a:pPr marL="192024" indent="-192024">
              <a:buSzPct val="100000"/>
              <a:buChar char="•"/>
            </a:pPr>
            <a:r>
              <a:rPr lang="en-US" sz="126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Relative ratios and deviations
</a:t>
            </a:r>
            <a:endParaRPr lang="en-US" sz="1260" dirty="0"/>
          </a:p>
          <a:p>
            <a:pPr marL="192024" indent="-192024">
              <a:buSzPct val="100000"/>
              <a:buChar char="•"/>
            </a:pPr>
            <a:r>
              <a:rPr lang="en-US" sz="126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Frequency-driven behavioral signals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3749040" y="1828800"/>
            <a:ext cx="2148840" cy="3520440"/>
          </a:xfrm>
          <a:prstGeom prst="roundRect">
            <a:avLst>
              <a:gd name="adj" fmla="val 2128"/>
            </a:avLst>
          </a:prstGeom>
          <a:solidFill>
            <a:srgbClr val="FFF7E6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58768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47"/>
                </a:solidFill>
              </a:rPr>
              <a:t>Temporal patterns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95344" y="2560320"/>
            <a:ext cx="1828800" cy="2423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92024" indent="-192024">
              <a:buSzPct val="100000"/>
              <a:buChar char="•"/>
            </a:pPr>
            <a:r>
              <a:rPr lang="en-US" sz="126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 and day context
</a:t>
            </a:r>
            <a:endParaRPr lang="en-US" sz="1260" dirty="0"/>
          </a:p>
          <a:p>
            <a:pPr marL="192024" indent="-192024">
              <a:buSzPct val="100000"/>
              <a:buChar char="•"/>
            </a:pPr>
            <a:r>
              <a:rPr lang="en-US" sz="126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Delta-time style variables
</a:t>
            </a:r>
            <a:endParaRPr lang="en-US" sz="1260" dirty="0"/>
          </a:p>
          <a:p>
            <a:pPr marL="192024" indent="-192024">
              <a:buSzPct val="100000"/>
              <a:buChar char="•"/>
            </a:pPr>
            <a:r>
              <a:rPr lang="en-US" sz="126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Sequence-aware user behavior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6583680" y="1828800"/>
            <a:ext cx="2148840" cy="3520440"/>
          </a:xfrm>
          <a:prstGeom prst="roundRect">
            <a:avLst>
              <a:gd name="adj" fmla="val 2128"/>
            </a:avLst>
          </a:prstGeom>
          <a:solidFill>
            <a:srgbClr val="E9F7E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47"/>
                </a:solidFill>
              </a:rPr>
              <a:t>Entity interactions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29984" y="2560320"/>
            <a:ext cx="1828800" cy="2423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92024" indent="-192024">
              <a:buSzPct val="100000"/>
              <a:buChar char="•"/>
            </a:pPr>
            <a:r>
              <a:rPr lang="en-US" sz="126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Amount × user patterns
</a:t>
            </a:r>
            <a:endParaRPr lang="en-US" sz="1260" dirty="0"/>
          </a:p>
          <a:p>
            <a:pPr marL="192024" indent="-192024">
              <a:buSzPct val="100000"/>
              <a:buChar char="•"/>
            </a:pPr>
            <a:r>
              <a:rPr lang="en-US" sz="126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Amount × product category
</a:t>
            </a:r>
            <a:endParaRPr lang="en-US" sz="1260" dirty="0"/>
          </a:p>
          <a:p>
            <a:pPr marL="192024" indent="-192024">
              <a:buSzPct val="100000"/>
              <a:buChar char="•"/>
            </a:pPr>
            <a:r>
              <a:rPr lang="en-US" sz="126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Cross-feature transaction relationships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9418320" y="1828800"/>
            <a:ext cx="2148840" cy="3520440"/>
          </a:xfrm>
          <a:prstGeom prst="roundRect">
            <a:avLst>
              <a:gd name="adj" fmla="val 2128"/>
            </a:avLst>
          </a:prstGeom>
          <a:solidFill>
            <a:srgbClr val="F7FAFC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28048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47"/>
                </a:solidFill>
              </a:rPr>
              <a:t>Why it helps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564624" y="2560320"/>
            <a:ext cx="1828800" cy="2423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92024" indent="-192024">
              <a:buSzPct val="100000"/>
              <a:buChar char="•"/>
            </a:pPr>
            <a:r>
              <a:rPr lang="en-US" sz="126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Captures hidden transaction habits
</a:t>
            </a:r>
            <a:endParaRPr lang="en-US" sz="1260" dirty="0"/>
          </a:p>
          <a:p>
            <a:pPr marL="192024" indent="-192024">
              <a:buSzPct val="100000"/>
              <a:buChar char="•"/>
            </a:pPr>
            <a:r>
              <a:rPr lang="en-US" sz="126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Improves discrimination beyond raw fields
</a:t>
            </a:r>
            <a:endParaRPr lang="en-US" sz="1260" dirty="0"/>
          </a:p>
          <a:p>
            <a:pPr marL="192024" indent="-192024">
              <a:buSzPct val="100000"/>
              <a:buChar char="•"/>
            </a:pPr>
            <a:r>
              <a:rPr lang="en-US" sz="126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Produces compact, interpretable signals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914400" y="5596128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4A5568"/>
                </a:solidFill>
              </a:rPr>
              <a:t>The thesis finds these engineered features among the most informative predictors across models.</a:t>
            </a:r>
            <a:endParaRPr lang="en-US" sz="11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417320"/>
            <a:ext cx="507492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961888" y="1417320"/>
            <a:ext cx="553212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704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</a:rPr>
              <a:t>Experimental configurations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26480" y="11704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</a:rPr>
              <a:t>Models and metrics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1645920"/>
            <a:ext cx="4480560" cy="2788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240792" indent="-240792">
              <a:buSzPct val="100000"/>
              <a:buChar char="•"/>
            </a:pPr>
            <a:r>
              <a:rPr lang="en-US" sz="158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Baseline: full feature space with the original imbalanced data.
</a:t>
            </a:r>
            <a:endParaRPr lang="en-US" sz="1580" dirty="0"/>
          </a:p>
          <a:p>
            <a:pPr marL="240792" indent="-240792">
              <a:buSzPct val="100000"/>
              <a:buChar char="•"/>
            </a:pPr>
            <a:r>
              <a:rPr lang="en-US" sz="158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 2: 1:5 majority-class downsampling.
</a:t>
            </a:r>
            <a:endParaRPr lang="en-US" sz="1580" dirty="0"/>
          </a:p>
          <a:p>
            <a:pPr marL="240792" indent="-240792">
              <a:buSzPct val="100000"/>
              <a:buChar char="•"/>
            </a:pPr>
            <a:r>
              <a:rPr lang="en-US" sz="158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 3: reduced feature space based on cross-model importance agreement.
</a:t>
            </a:r>
            <a:endParaRPr lang="en-US" sz="1580" dirty="0"/>
          </a:p>
          <a:p>
            <a:pPr marL="240792" indent="-240792">
              <a:buSzPct val="100000"/>
              <a:buChar char="•"/>
            </a:pPr>
            <a:r>
              <a:rPr lang="en-US" sz="158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 4: threshold tuning to increase fraud capture.</a:t>
            </a:r>
            <a:endParaRPr lang="en-US" sz="1580" dirty="0"/>
          </a:p>
        </p:txBody>
      </p:sp>
      <p:sp>
        <p:nvSpPr>
          <p:cNvPr id="7" name="Text 5"/>
          <p:cNvSpPr/>
          <p:nvPr/>
        </p:nvSpPr>
        <p:spPr>
          <a:xfrm>
            <a:off x="6254496" y="1700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</a:rPr>
              <a:t>Compared models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2011680"/>
            <a:ext cx="182880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20000"/>
          </a:bodyPr>
          <a:lstStyle/>
          <a:p>
            <a:pPr marL="243840" indent="-243840"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
</a:t>
            </a:r>
            <a:endParaRPr lang="en-US" sz="1600" dirty="0"/>
          </a:p>
          <a:p>
            <a:pPr marL="243840" indent="-243840"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LightGBM
</a:t>
            </a:r>
            <a:endParaRPr lang="en-US" sz="1600" dirty="0"/>
          </a:p>
          <a:p>
            <a:pPr marL="243840" indent="-243840"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CatBoost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75320" y="17007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</a:rPr>
              <a:t>Evaluated metrics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21040" y="2011680"/>
            <a:ext cx="21031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85000" lnSpcReduction="20000"/>
          </a:bodyPr>
          <a:lstStyle/>
          <a:p>
            <a:pPr marL="231648" indent="-231648">
              <a:buSzPct val="100000"/>
              <a:buChar char="•"/>
            </a:pPr>
            <a:r>
              <a:rPr lang="en-US" sz="152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
</a:t>
            </a:r>
            <a:endParaRPr lang="en-US" sz="1520" dirty="0"/>
          </a:p>
          <a:p>
            <a:pPr marL="231648" indent="-231648">
              <a:buSzPct val="100000"/>
              <a:buChar char="•"/>
            </a:pPr>
            <a:r>
              <a:rPr lang="en-US" sz="152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PR-AUC
</a:t>
            </a:r>
            <a:endParaRPr lang="en-US" sz="1520" dirty="0"/>
          </a:p>
          <a:p>
            <a:pPr marL="231648" indent="-231648">
              <a:buSzPct val="100000"/>
              <a:buChar char="•"/>
            </a:pPr>
            <a:r>
              <a:rPr lang="en-US" sz="152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
</a:t>
            </a:r>
            <a:endParaRPr lang="en-US" sz="1520" dirty="0"/>
          </a:p>
          <a:p>
            <a:pPr marL="231648" indent="-231648">
              <a:buSzPct val="100000"/>
              <a:buChar char="•"/>
            </a:pPr>
            <a:r>
              <a:rPr lang="en-US" sz="152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
</a:t>
            </a:r>
            <a:endParaRPr lang="en-US" sz="1520" dirty="0"/>
          </a:p>
          <a:p>
            <a:pPr marL="231648" indent="-231648">
              <a:buSzPct val="100000"/>
              <a:buChar char="•"/>
            </a:pPr>
            <a:r>
              <a:rPr lang="en-US" sz="152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F1-score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6272784" y="4069080"/>
            <a:ext cx="4663440" cy="1051560"/>
          </a:xfrm>
          <a:prstGeom prst="roundRect">
            <a:avLst>
              <a:gd name="adj" fmla="val 4348"/>
            </a:avLst>
          </a:prstGeom>
          <a:solidFill>
            <a:srgbClr val="FFF7E6"/>
          </a:solidFill>
          <a:ln w="12700">
            <a:solidFill>
              <a:srgbClr val="F2D2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431596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02C"/>
                </a:solidFill>
              </a:rPr>
              <a:t>Why ROC-AUC leads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A202C"/>
                </a:solidFill>
              </a:rPr>
              <a:t>It stays informative under imbalance and matches the competition’s primary evaluation protocol.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41732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355080" y="1417320"/>
            <a:ext cx="5102352" cy="4709160"/>
          </a:xfrm>
          <a:prstGeom prst="roundRect">
            <a:avLst>
              <a:gd name="adj" fmla="val 116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164592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6C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Insert full-features results visual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675120" y="3680460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A5568"/>
                </a:solidFill>
              </a:rPr>
              <a:t>Suggested: ROC/PR curves or model-comparison chart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96112" y="11704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</a:rPr>
              <a:t>Results: full features on imbalanced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</a:rPr>
              <a:t>Headline result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99339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</a:rPr>
              <a:t>LightGBM achieved the strongest overall ROC-AUC at 0.918, ahead of CatBoost (0.910) and XGBoost (0.896).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61488"/>
            <a:ext cx="457200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236220" indent="-236220"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LightGBM also delivered the best PR-AUC (0.537) and F1-score (0.506).
</a:t>
            </a:r>
            <a:endParaRPr lang="en-US" sz="1550" dirty="0"/>
          </a:p>
          <a:p>
            <a:pPr marL="236220" indent="-236220"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 showed the highest recall (0.671) but with clearly lower precision (0.269).
</a:t>
            </a:r>
            <a:endParaRPr lang="en-US" sz="1550" dirty="0"/>
          </a:p>
          <a:p>
            <a:pPr marL="236220" indent="-236220"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baseline confirms that strong ranking performance is possible even before rebalancing.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14400" y="5230368"/>
            <a:ext cx="4663440" cy="475488"/>
          </a:xfrm>
          <a:prstGeom prst="roundRect">
            <a:avLst>
              <a:gd name="adj" fmla="val 5769"/>
            </a:avLst>
          </a:prstGeom>
          <a:solidFill>
            <a:srgbClr val="E9F7EF"/>
          </a:solidFill>
          <a:ln w="12700">
            <a:solidFill>
              <a:srgbClr val="A9D8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48256" y="537667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02C"/>
                </a:solidFill>
              </a:rPr>
              <a:t>Table values from thesis Table 2.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417320"/>
            <a:ext cx="530352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144768" y="1417320"/>
            <a:ext cx="5321808" cy="4709160"/>
          </a:xfrm>
          <a:prstGeom prst="roundRect">
            <a:avLst>
              <a:gd name="adj" fmla="val 116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73368" y="1645920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6C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Insert downsampling comparison chart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64808" y="3680460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A5568"/>
                </a:solidFill>
              </a:rPr>
              <a:t>Suggested: before/after bars for recall, precision, and ROC-AUC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96112" y="11704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</a:rPr>
              <a:t>Results: majority-class downsampling (1:5)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4526280" cy="3108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239268" indent="-239268">
              <a:buSzPct val="100000"/>
              <a:buChar char="•"/>
            </a:pPr>
            <a:r>
              <a:rPr lang="en-US" sz="157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improved fraud sensitivity across the models without collapsing ROC-AUC performance.
</a:t>
            </a:r>
            <a:endParaRPr lang="en-US" sz="1570" dirty="0"/>
          </a:p>
          <a:p>
            <a:pPr marL="239268" indent="-239268">
              <a:buSzPct val="100000"/>
              <a:buChar char="•"/>
            </a:pPr>
            <a:r>
              <a:rPr lang="en-US" sz="157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 recall rose to 0.703, CatBoost recall to 0.757, and LightGBM recall to 0.626.
</a:t>
            </a:r>
            <a:endParaRPr lang="en-US" sz="1570" dirty="0"/>
          </a:p>
          <a:p>
            <a:pPr marL="239268" indent="-239268">
              <a:buSzPct val="100000"/>
              <a:buChar char="•"/>
            </a:pPr>
            <a:r>
              <a:rPr lang="en-US" sz="157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LightGBM retained the strongest balance with ROC-AUC 0.917 and PR-AUC 0.581.
</a:t>
            </a:r>
            <a:endParaRPr lang="en-US" sz="1570" dirty="0"/>
          </a:p>
          <a:p>
            <a:pPr marL="239268" indent="-239268">
              <a:buSzPct val="100000"/>
              <a:buChar char="•"/>
            </a:pPr>
            <a:r>
              <a:rPr lang="en-US" sz="157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shows that controlled rebalancing can help models learn minority-class fraud patterns better.</a:t>
            </a:r>
            <a:endParaRPr lang="en-US" sz="1570" dirty="0"/>
          </a:p>
        </p:txBody>
      </p:sp>
      <p:sp>
        <p:nvSpPr>
          <p:cNvPr id="8" name="Shape 6"/>
          <p:cNvSpPr/>
          <p:nvPr/>
        </p:nvSpPr>
        <p:spPr>
          <a:xfrm>
            <a:off x="914400" y="5074920"/>
            <a:ext cx="4526280" cy="658368"/>
          </a:xfrm>
          <a:prstGeom prst="roundRect">
            <a:avLst>
              <a:gd name="adj" fmla="val 5556"/>
            </a:avLst>
          </a:prstGeom>
          <a:solidFill>
            <a:srgbClr val="EAF2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530352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1A202C"/>
                </a:solidFill>
              </a:rPr>
              <a:t>Operational reading: more fraud is caught, but precision remains a business trade-off.</a:t>
            </a:r>
            <a:endParaRPr lang="en-US" sz="12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41732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126480" y="1417320"/>
            <a:ext cx="5349240" cy="4709160"/>
          </a:xfrm>
          <a:prstGeom prst="roundRect">
            <a:avLst>
              <a:gd name="adj" fmla="val 116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55080" y="16459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6C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Insert feature-importance visual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46520" y="36804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A5568"/>
                </a:solidFill>
              </a:rPr>
              <a:t>Suggested: top features or full vs reduced feature comparison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96112" y="11704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</a:rPr>
              <a:t>Results: reduced feature set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4526280" cy="3063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239268" indent="-239268">
              <a:buSzPct val="100000"/>
              <a:buChar char="•"/>
            </a:pPr>
            <a:r>
              <a:rPr lang="en-US" sz="157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reduction was based on importance agreement across the three models.
</a:t>
            </a:r>
            <a:endParaRPr lang="en-US" sz="1570" dirty="0"/>
          </a:p>
          <a:p>
            <a:pPr marL="239268" indent="-239268">
              <a:buSzPct val="100000"/>
              <a:buChar char="•"/>
            </a:pPr>
            <a:r>
              <a:rPr lang="en-US" sz="157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stayed strong after compression of the feature space.
</a:t>
            </a:r>
            <a:endParaRPr lang="en-US" sz="1570" dirty="0"/>
          </a:p>
          <a:p>
            <a:pPr marL="239268" indent="-239268">
              <a:buSzPct val="100000"/>
              <a:buChar char="•"/>
            </a:pPr>
            <a:r>
              <a:rPr lang="en-US" sz="157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LightGBM remained the top performer with ROC-AUC 0.919 and PR-AUC 0.566.
</a:t>
            </a:r>
            <a:endParaRPr lang="en-US" sz="1570" dirty="0"/>
          </a:p>
          <a:p>
            <a:pPr marL="239268" indent="-239268">
              <a:buSzPct val="100000"/>
              <a:buChar char="•"/>
            </a:pPr>
            <a:r>
              <a:rPr lang="en-US" sz="157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suggests that a more efficient production model may be possible without sacrificing discrimination.</a:t>
            </a:r>
            <a:endParaRPr lang="en-US" sz="1570" dirty="0"/>
          </a:p>
        </p:txBody>
      </p:sp>
      <p:sp>
        <p:nvSpPr>
          <p:cNvPr id="8" name="Shape 6"/>
          <p:cNvSpPr/>
          <p:nvPr/>
        </p:nvSpPr>
        <p:spPr>
          <a:xfrm>
            <a:off x="914400" y="5074920"/>
            <a:ext cx="4526280" cy="658368"/>
          </a:xfrm>
          <a:prstGeom prst="roundRect">
            <a:avLst>
              <a:gd name="adj" fmla="val 5556"/>
            </a:avLst>
          </a:prstGeom>
          <a:solidFill>
            <a:srgbClr val="FFF7E6"/>
          </a:solidFill>
          <a:ln w="12700">
            <a:solidFill>
              <a:srgbClr val="F2D2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530352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A202C"/>
                </a:solidFill>
              </a:rPr>
              <a:t>Important message for deployment: compact models can still be highly competitive.</a:t>
            </a:r>
            <a:endParaRPr lang="en-US" sz="12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41732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355080" y="1417320"/>
            <a:ext cx="5102352" cy="4709160"/>
          </a:xfrm>
          <a:prstGeom prst="roundRect">
            <a:avLst>
              <a:gd name="adj" fmla="val 116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164592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6C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Insert threshold-tuning visual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675120" y="3680460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A5568"/>
                </a:solidFill>
              </a:rPr>
              <a:t>Suggested: precision-recall trade-off or confusion-matrix comparison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96112" y="1170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</a:rPr>
              <a:t>Results: decision threshold tuning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</a:rPr>
              <a:t>Lowering the threshold to 0.1 dramatically increased recall across all models.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4572000" cy="2286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 lnSpcReduction="10000"/>
          </a:bodyPr>
          <a:lstStyle/>
          <a:p>
            <a:pPr marL="236220" indent="-236220"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 recall reached 0.922, LightGBM 0.895, and CatBoost 0.868.
</a:t>
            </a:r>
            <a:endParaRPr lang="en-US" sz="1550" dirty="0"/>
          </a:p>
          <a:p>
            <a:pPr marL="236220" indent="-236220"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came at a major precision cost: 0.085, 0.110, and 0.108 respectively.
</a:t>
            </a:r>
            <a:endParaRPr lang="en-US" sz="1550" dirty="0"/>
          </a:p>
          <a:p>
            <a:pPr marL="236220" indent="-236220"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highlights why threshold choice is a business decision, not just a technical default.
</a:t>
            </a:r>
            <a:endParaRPr lang="en-US" sz="1550" dirty="0"/>
          </a:p>
          <a:p>
            <a:pPr marL="236220" indent="-236220"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Institutions should tune thresholds according to fraud-loss tolerance and analyst review capacity.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14400" y="5166360"/>
            <a:ext cx="4572000" cy="512064"/>
          </a:xfrm>
          <a:prstGeom prst="roundRect">
            <a:avLst>
              <a:gd name="adj" fmla="val 5357"/>
            </a:avLst>
          </a:prstGeom>
          <a:solidFill>
            <a:srgbClr val="E9F7EF"/>
          </a:solidFill>
          <a:ln w="12700">
            <a:solidFill>
              <a:srgbClr val="A9D8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5330952"/>
            <a:ext cx="4334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dirty="0">
                <a:solidFill>
                  <a:srgbClr val="1A202C"/>
                </a:solidFill>
              </a:rPr>
              <a:t>Best for defense narration: “higher capture, lower precision, business-calibrated threshold.”</a:t>
            </a:r>
            <a:endParaRPr lang="en-US" sz="11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417320"/>
            <a:ext cx="109728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96112" y="11704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</a:rPr>
              <a:t>Cross-experiment synthesis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2606040" cy="3703320"/>
          </a:xfrm>
          <a:prstGeom prst="roundRect">
            <a:avLst>
              <a:gd name="adj" fmla="val 1754"/>
            </a:avLst>
          </a:prstGeom>
          <a:solidFill>
            <a:srgbClr val="EAF2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" y="20574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47"/>
                </a:solidFill>
              </a:rPr>
              <a:t>What stayed consistent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2416" y="2578608"/>
            <a:ext cx="2286000" cy="2651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LightGBM was the most reliable model across experiments.
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Engineered behavioral features repeatedly appeared among the strongest predictors.
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 remained stable even when the experimental setup changed.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977640" y="1828800"/>
            <a:ext cx="2606040" cy="3703320"/>
          </a:xfrm>
          <a:prstGeom prst="roundRect">
            <a:avLst>
              <a:gd name="adj" fmla="val 1754"/>
            </a:avLst>
          </a:prstGeom>
          <a:solidFill>
            <a:srgbClr val="E9F7E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05656" y="20574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47"/>
                </a:solidFill>
              </a:rPr>
              <a:t>What improved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05656" y="2578608"/>
            <a:ext cx="2286000" cy="2651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increased minority-class learning and recall.
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features preserved strong discrimination with lower complexity.
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reduction sharply increased fraud capture.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40880" y="1828800"/>
            <a:ext cx="2606040" cy="3703320"/>
          </a:xfrm>
          <a:prstGeom prst="roundRect">
            <a:avLst>
              <a:gd name="adj" fmla="val 1754"/>
            </a:avLst>
          </a:prstGeom>
          <a:solidFill>
            <a:srgbClr val="FFF7E6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68896" y="20574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47"/>
                </a:solidFill>
              </a:rPr>
              <a:t>What this means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68896" y="2578608"/>
            <a:ext cx="2286000" cy="2651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detection should be treated as an operational optimization problem.
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choice, sampling strategy, and thresholding must be tuned together.
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metric never tells the whole deployment story.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46920" y="1828800"/>
            <a:ext cx="1572768" cy="3703320"/>
          </a:xfrm>
          <a:prstGeom prst="roundRect">
            <a:avLst>
              <a:gd name="adj" fmla="val 348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0" y="205740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6C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Insert summary chart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966960" y="358902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A5568"/>
                </a:solidFill>
              </a:rPr>
              <a:t>Suggested: one “winner” slide chart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41732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144768" y="1417320"/>
            <a:ext cx="5321808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704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</a:rPr>
              <a:t>Main conclusions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26480" y="11704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</a:rPr>
              <a:t>Future work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64208"/>
            <a:ext cx="448056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237744" indent="-237744">
              <a:buSzPct val="100000"/>
              <a:buChar char="•"/>
            </a:pPr>
            <a:r>
              <a:rPr lang="en-US" sz="156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boosting models are highly effective for fraud detection on IEEE-CIS data.
</a:t>
            </a:r>
            <a:endParaRPr lang="en-US" sz="1560" dirty="0"/>
          </a:p>
          <a:p>
            <a:pPr marL="237744" indent="-237744">
              <a:buSzPct val="100000"/>
              <a:buChar char="•"/>
            </a:pPr>
            <a:r>
              <a:rPr lang="en-US" sz="156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LightGBM was the most dependable model overall (ROC-AUC ≈ 0.918–0.919).
</a:t>
            </a:r>
            <a:endParaRPr lang="en-US" sz="1560" dirty="0"/>
          </a:p>
          <a:p>
            <a:pPr marL="237744" indent="-237744">
              <a:buSzPct val="100000"/>
              <a:buChar char="•"/>
            </a:pPr>
            <a:r>
              <a:rPr lang="en-US" sz="156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Behavioral feature engineering and careful experimental design materially improved insight and performance.
</a:t>
            </a:r>
            <a:endParaRPr lang="en-US" sz="1560" dirty="0"/>
          </a:p>
          <a:p>
            <a:pPr marL="237744" indent="-237744">
              <a:buSzPct val="100000"/>
              <a:buChar char="•"/>
            </a:pPr>
            <a:r>
              <a:rPr lang="en-US" sz="156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selection must be aligned with organizational cost asymmetries.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6382512" y="1664208"/>
            <a:ext cx="45262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236220" indent="-236220"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additional imbalance-handling methods such as cost-sensitive learning or focal losses.
</a:t>
            </a:r>
            <a:endParaRPr lang="en-US" sz="1550" dirty="0"/>
          </a:p>
          <a:p>
            <a:pPr marL="236220" indent="-236220"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explainability, drift monitoring, and real-time scoring pipelines.
</a:t>
            </a:r>
            <a:endParaRPr lang="en-US" sz="1550" dirty="0"/>
          </a:p>
          <a:p>
            <a:pPr marL="236220" indent="-236220"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ensemble or hybrid systems that combine rules and machine learning.
</a:t>
            </a:r>
            <a:endParaRPr lang="en-US" sz="1550" dirty="0"/>
          </a:p>
          <a:p>
            <a:pPr marL="236220" indent="-236220">
              <a:buSzPct val="100000"/>
              <a:buChar char="•"/>
            </a:pPr>
            <a:r>
              <a:rPr lang="en-US" sz="1550" dirty="0">
                <a:solidFill>
                  <a:srgbClr val="1A20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on newer or institution-specific transaction data.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914400" y="5074920"/>
            <a:ext cx="10012680" cy="658368"/>
          </a:xfrm>
          <a:prstGeom prst="roundRect">
            <a:avLst>
              <a:gd name="adj" fmla="val 5556"/>
            </a:avLst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5294376"/>
            <a:ext cx="946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Closing message: the thesis shows that strong fraud detection depends not only on the model, but on the full decision pipeline around it.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417320"/>
            <a:ext cx="1097280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6C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02C"/>
                </a:solidFill>
              </a:rPr>
              <a:t>This deck is intentionally editable: replace the placeholder panels with your NotebookLM visuals, charts, or screenshots before the defense.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989320" y="1810512"/>
            <a:ext cx="4754880" cy="3520440"/>
          </a:xfrm>
          <a:prstGeom prst="roundRect">
            <a:avLst>
              <a:gd name="adj" fmla="val 155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20391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6C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Insert final visual / closing slide image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09360" y="34792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A5568"/>
                </a:solidFill>
              </a:rPr>
              <a:t>Suggested: best summary chart or polished thesis visual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525780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Department of Economics • National and Kapodistrian University of Athens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900</Words>
  <Application>Microsoft Office PowerPoint</Application>
  <PresentationFormat>Widescreen</PresentationFormat>
  <Paragraphs>199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for Fraud Detection</dc:title>
  <dc:subject>Fraud Detection Thesis Presentation</dc:subject>
  <dc:creator>OpenAI</dc:creator>
  <cp:lastModifiedBy>Konstantinos Koutsompinas</cp:lastModifiedBy>
  <cp:revision>4</cp:revision>
  <dcterms:created xsi:type="dcterms:W3CDTF">2026-04-03T20:15:22Z</dcterms:created>
  <dcterms:modified xsi:type="dcterms:W3CDTF">2026-04-03T20:19:55Z</dcterms:modified>
</cp:coreProperties>
</file>